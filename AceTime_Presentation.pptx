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46304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sz="4400">
                <a:solidFill>
                  <a:srgbClr val="00FFB3"/>
                </a:solidFill>
              </a:rPr>
              <a:t>AceTime — Backend Sync &amp; WebRTC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14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2200">
                <a:solidFill>
                  <a:srgbClr val="FFFFFF"/>
                </a:solidFill>
              </a:rPr>
              <a:t>How I built real-time video + game state synchronisation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632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1600">
                <a:solidFill>
                  <a:srgbClr val="8888AA"/>
                </a:solidFill>
              </a:rPr>
              <a:t>Ang Yu Liang  ·  feature/backend-sync  ·  May 20–21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9496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0" sz="3600">
                <a:solidFill>
                  <a:srgbClr val="222233"/>
                </a:solidFill>
              </a:rPr>
              <a:t>♠   ♥   ♦   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Fisher-Yates Shuffle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Used in game.js · buildDeck() → shuffle()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916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00D4FF"/>
                </a:solidFill>
              </a:rPr>
              <a:t>What it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760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An algorithm that produces a uniformly random permutation of an array. Every possible ordering has exactly equal probability — no card is more likely to appear in any position than another.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F6B35"/>
                </a:solidFill>
              </a:rPr>
              <a:t>Why the naïve version is wrong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566160"/>
            <a:ext cx="5486400" cy="105156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✗ Biased — picks j from full range each 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for (let i = 0; i &lt; deck.length; i++)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  let j = Math.floor(Math.random() * deck.length);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[deck[i], deck[j]] = [deck[j], deck[i]];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00FFB3"/>
                </a:solidFill>
              </a:rPr>
              <a:t>Correct Fisher-Yates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5120640" cy="12344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✓ Unbiased — shrink range each step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for (let i = deck.length - 1; i &gt; 0; i--)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const j = Math.floor(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  Math.random() * (i + 1)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[deck[i], deck[j]] = [deck[j], deck[i]];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42900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00D4FF"/>
                </a:solidFill>
              </a:rPr>
              <a:t>Why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822191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Iteration i picks 1 card from the remaining i+1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160520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Probability of any card reaching any slot = 1/n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498848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O(n) time — single pass through the deck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37175"/>
            <a:ext cx="5029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8888AA"/>
                </a:solidFill>
              </a:rPr>
              <a:t>• Standard in card games, lotteries, simulations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754880"/>
            <a:ext cx="5760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888AA"/>
                </a:solidFill>
              </a:rPr>
              <a:t>Key insight: picking j from [i, end] (not [0, end]) is what removes the bias.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React: useRef vs useState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Why the camera didn't show — and how I fixed 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45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D4FF"/>
                </a:solidFill>
              </a:rPr>
              <a:t>useRef  — imperative DOM handle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Holds a mutable value (.current)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000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6B35"/>
                </a:solidFill>
              </a:rPr>
              <a:t>• Changing it does NOT trigger a re-render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700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Used to attach to a DOM element (ref={})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FFB3"/>
                </a:solidFill>
              </a:rPr>
              <a:t>useState  — reactive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02996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Holds a value React tracks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35000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00FFB3"/>
                </a:solidFill>
              </a:rPr>
              <a:t>• Changing it triggers a re-render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670048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After re-render, useEffect runs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FF3B30"/>
                </a:solidFill>
              </a:rPr>
              <a:t>The Bug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401568"/>
            <a:ext cx="5303520" cy="68580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✗ Sets srcObject once inside async callback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localVideoRef.current.srcObject = 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If React re-renders the &lt;video&gt; element, srcObject is lost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30175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2000">
                <a:solidFill>
                  <a:srgbClr val="00FFB3"/>
                </a:solidFill>
              </a:rPr>
              <a:t>The Fix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5040" y="3401568"/>
            <a:ext cx="5669280" cy="141732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[localStream, setLocalStream] = useState(null)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In getUserMedia.then():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setLocalStream(stream)   // tells React stream is ready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Separate effect — runs after EVERY render: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useEffect(()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localVideoRef.current.srcObject = localStream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}, [localStream])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074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888AA"/>
                </a:solidFill>
              </a:rPr>
              <a:t>Result: srcObject is re-applied after any re-render, so the camera works the instant getUserMedia resolves — no second player needed.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WebRTC &amp; PeerJS — P2P Video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How two browsers stream video directly to each other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642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FFFFFF"/>
                </a:solidFill>
              </a:rPr>
              <a:t>WebRTC is a browser API for peer-to-peer audio/video. PeerJS wraps its complex handshake into simple .call() / .answer() methods.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12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FFB3"/>
                </a:solidFill>
              </a:rPr>
              <a:t>1. Get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96896"/>
            <a:ext cx="3566160" cy="12344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navigator.mediaDevices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.getUserMedia(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{video:true, audio:true}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2212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00D4FF"/>
                </a:solidFill>
              </a:rPr>
              <a:t>2. Exchange Peer IDs
(via Socket.io)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596896"/>
            <a:ext cx="3566160" cy="12344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peer.on('open', id =&gt;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socket.emit('peer-id',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{room, peerId: id}))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221284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B44DFF"/>
                </a:solidFill>
              </a:rPr>
              <a:t>3. Call &amp;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0" y="2596896"/>
            <a:ext cx="3566160" cy="12344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peer.call(otherId, stream)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peer.on('call', call =&gt;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call.answer(stream))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0507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500">
                <a:solidFill>
                  <a:srgbClr val="8888AA"/>
                </a:solidFill>
              </a:rPr>
              <a:t>Why Socket.io is still needed — WebRTC requires a 'signalling channel' to exchange peer IDs before the P2P connection can open. Socket.io plays that role; after connection, video never touches the server.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" y="4572000"/>
            <a:ext cx="11274552" cy="0"/>
          </a:xfrm>
          <a:prstGeom prst="line">
            <a:avLst/>
          </a:prstGeom>
          <a:ln w="12700">
            <a:solidFill>
              <a:srgbClr val="88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46634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FF6B35"/>
                </a:solidFill>
              </a:rPr>
              <a:t>The Asymmetric Video Bug I Fixed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047488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6B35"/>
                </a:solidFill>
              </a:rPr>
              <a:t>• Player 1 joined first → emitted peer-id → nobody was listening yet → peer-id lost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85816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00FFB3"/>
                </a:solidFill>
              </a:rPr>
              <a:t>• Fix: server emits "request-peer-id" to the whole room when Player 2 joins → Player 1 re-sends their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2414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Player 2 now receives the ID, calls Player 1, and both get video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Socket.io — Room-Based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server/index.js · how the server keeps everyone in sync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D4FF"/>
                </a:solidFill>
              </a:rPr>
              <a:t>What a Socket.io Room 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A named channel on the server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5915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socket.join(room)  adds a client to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8833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io.to(room).emit(...)  broadcasts to all members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socket.to(room).emit(...)  broadcasts except sender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FFB3"/>
                </a:solidFill>
              </a:rPr>
              <a:t>Server state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29968"/>
            <a:ext cx="5486400" cy="12344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roomStates    = {}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{ roomId: gameState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roomNicknames = {}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{ roomId: { socketId: 'name' }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Deleted when both players leave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57200" y="3493008"/>
            <a:ext cx="11274552" cy="0"/>
          </a:xfrm>
          <a:prstGeom prst="line">
            <a:avLst/>
          </a:prstGeom>
          <a:ln w="12700">
            <a:solidFill>
              <a:srgbClr val="88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57200" y="361188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900">
                <a:solidFill>
                  <a:srgbClr val="B44DFF"/>
                </a:solidFill>
              </a:rPr>
              <a:t>Reconnection Remapping — the hard part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Problem: a disconnect gives the rejoining player a brand-new socket ID → their hand is stored under the old ID → game breaks.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370832"/>
            <a:ext cx="5486400" cy="137160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ghostId = oldPlayerIds.find(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  id =&gt; !playerIds.includes(id)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newId = playerIds.find(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id =&gt; !oldPlayerIds.includes(id)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newHands[newId] = newHands[ghostId];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delete newHands[ghostId];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97763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FFFFFF"/>
                </a:solidFill>
              </a:rPr>
              <a:t>Walk-through: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434340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• oldPlayerIds = [A, B]  (B disconnected)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672584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• playerIds now = [A, C]  (C = B's new ID)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5001768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6B35"/>
                </a:solidFill>
              </a:rPr>
              <a:t>• ghostId = B  (in old, not in new)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5330952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00FFB3"/>
                </a:solidFill>
              </a:rPr>
              <a:t>• newId   = C  (in new, not in old)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5660136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00FFB3"/>
                </a:solidFill>
              </a:rPr>
              <a:t>• Move B's hand → C; game continues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React useEffect &amp; Dependency Array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How I controlled when code runs and when it cleans 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FFB3"/>
                </a:solidFill>
              </a:rPr>
              <a:t>Three useEffects in CallScreen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00FFB3"/>
                </a:solidFill>
              </a:rPr>
              <a:t>• Stream sync  — deps: [localStream, isCameraOff]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9572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00D4FF"/>
                </a:solidFill>
              </a:rPr>
              <a:t>• Socket listeners  — deps: [socket, opponentNickname]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6148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600">
                <a:solidFill>
                  <a:srgbClr val="B44DFF"/>
                </a:solidFill>
              </a:rPr>
              <a:t>• WebRTC / PeerJS  — deps: [socket, room]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D4FF"/>
                </a:solidFill>
              </a:rPr>
              <a:t>Dependency array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9300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[]  → runs once on mount, cleanup on unmount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31335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[x] → re-runs whenever x 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9663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6B35"/>
                </a:solidFill>
              </a:rPr>
              <a:t>• no array → runs after every render (avoid!)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664208"/>
            <a:ext cx="5486400" cy="246888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useEffect(() =&gt;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  // register listeners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socket.on('game-init', handler)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socket.on('receive-move', handler)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  return () =&gt; {   // CLEANUP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    socket.off('game-init')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6B35"/>
                </a:solidFill>
                <a:latin typeface="Courier New"/>
              </a:rPr>
              <a:t>    socket.off('receive-move')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 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D4FF"/>
                </a:solidFill>
                <a:latin typeface="Courier New"/>
              </a:rPr>
              <a:t>}, [socket, opponentNickname])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 ↑ re-runs when opponent name is known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" y="4407408"/>
            <a:ext cx="11274552" cy="0"/>
          </a:xfrm>
          <a:prstGeom prst="line">
            <a:avLst/>
          </a:prstGeom>
          <a:ln w="12700">
            <a:solidFill>
              <a:srgbClr val="88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57200" y="4535424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700">
                <a:solidFill>
                  <a:srgbClr val="FF3B30"/>
                </a:solidFill>
              </a:rPr>
              <a:t>Why cleanup matters with Socket.io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901184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6B35"/>
                </a:solidFill>
              </a:rPr>
              <a:t>• Without .off(), re-registering adds a duplicate listener → every event fires twice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239512"/>
            <a:ext cx="10972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The return function in useEffect is called before the effect re-runs and on unmount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Deployment — Render + Environment Switching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How the same codebase runs locally and in 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FF6B35"/>
                </a:solidFill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Local dev:  server is at localhost:3000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6829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FFFF"/>
                </a:solidFill>
              </a:rPr>
              <a:t>• Production: server is at acetime-backend.onrender.com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06624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500">
                <a:solidFill>
                  <a:srgbClr val="FF6B35"/>
                </a:solidFill>
              </a:rPr>
              <a:t>• Hard-coding either URL breaks the other environment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272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FFB3"/>
                </a:solidFill>
              </a:rPr>
              <a:t>The fix — runtime URL 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11296"/>
            <a:ext cx="5486400" cy="100584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const socket = io(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D4FF"/>
                </a:solidFill>
                <a:latin typeface="Courier New"/>
              </a:rPr>
              <a:t>  window.location.hostname === 'localhost'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  ? 'http://localhost:3000'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  : 'https://acetime-backend.onrender.com'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642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800">
                <a:solidFill>
                  <a:srgbClr val="00D4FF"/>
                </a:solidFill>
              </a:rPr>
              <a:t>Render server config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29968"/>
            <a:ext cx="5303520" cy="1417320"/>
          </a:xfrm>
          <a:prstGeom prst="rect">
            <a:avLst/>
          </a:prstGeom>
          <a:solidFill>
            <a:srgbClr val="0D0D1A"/>
          </a:solidFill>
        </p:spPr>
        <p:txBody>
          <a:bodyPr wrap="non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// Bind to all interfaces, not just localhost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httpServer.listen(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process.env.PORT || 3000,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00FFB3"/>
                </a:solidFill>
                <a:latin typeface="Courier New"/>
              </a:rPr>
              <a:t>  '0.0.0.0',   // ← required on Render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8888AA"/>
                </a:solidFill>
                <a:latin typeface="Courier New"/>
              </a:rPr>
              <a:t>  () =&gt; console.log('Server ready')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>
                <a:solidFill>
                  <a:srgbClr val="FFFFFF"/>
                </a:solidFill>
                <a:latin typeface="Courier New"/>
              </a:rPr>
              <a:t>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5844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600">
                <a:solidFill>
                  <a:srgbClr val="8888AA"/>
                </a:solidFill>
              </a:rPr>
              <a:t>Why 0.0.0.0?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950208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• 127.0.0.1 only accepts connections from the same machine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279392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00FFB3"/>
                </a:solidFill>
              </a:rPr>
              <a:t>• 0.0.0.0 accepts connections from any interface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608576"/>
            <a:ext cx="5120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• Render routes external traffic to a container — 0.0.0.0 is required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7200" y="5074920"/>
            <a:ext cx="11274552" cy="0"/>
          </a:xfrm>
          <a:prstGeom prst="line">
            <a:avLst/>
          </a:prstGeom>
          <a:ln w="12700">
            <a:solidFill>
              <a:srgbClr val="8888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5193792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sz="1400">
                <a:solidFill>
                  <a:srgbClr val="8888AA"/>
                </a:solidFill>
              </a:rPr>
              <a:t>process.env.PORT is set by Render automatically. The server reads it so Render controls which port is exposed — hardcoding 3000 would conflict with Render's port assignment.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3800">
                <a:solidFill>
                  <a:srgbClr val="00FFB3"/>
                </a:solidFill>
              </a:rPr>
              <a:t>What I Built —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5156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800">
                <a:solidFill>
                  <a:srgbClr val="8888AA"/>
                </a:solidFill>
              </a:rPr>
              <a:t>Things I can speak to confidently in the presentation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508760"/>
            <a:ext cx="11274552" cy="0"/>
          </a:xfrm>
          <a:prstGeom prst="line">
            <a:avLst/>
          </a:prstGeom>
          <a:ln w="12700">
            <a:solidFill>
              <a:srgbClr val="00FF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1719072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FFB3"/>
                </a:solidFill>
              </a:rPr>
              <a:t>Fisher-Yates Shuffle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1719072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Unbiased deck randomisation — why picking j from [i,n]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9514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D4FF"/>
                </a:solidFill>
              </a:rPr>
              <a:t>React useRef vs useState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29514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Imperative DOM ops vs reactive state; why srcObject needs state to persist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71215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B44DFF"/>
                </a:solidFill>
              </a:rPr>
              <a:t>React useEffect cleanup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2871215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Duplicate socket listeners bug; return fn removes listeners before re-run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47288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FFB3"/>
                </a:solidFill>
              </a:rPr>
              <a:t>WebRTC / PeerJS handshake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447288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getUserMedia → exchange peer IDs via Socket.io → peer.call /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FFB3"/>
                </a:solidFill>
              </a:rPr>
              <a:t>Asymmetric video bug 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4023360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server re-emits request-peer-id so late joiners hear the first player's 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599431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D4FF"/>
                </a:solidFill>
              </a:rPr>
              <a:t>Socket.io rooms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4599431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Room isolation, broadcast vs targeted emit, roomStates as source of truth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175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B44DFF"/>
                </a:solidFill>
              </a:rPr>
              <a:t>Reconnection remapping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175504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ghostId/newId algorithm re-keys hands and player array without resetting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751576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sz="1500">
                <a:solidFill>
                  <a:srgbClr val="00FFB3"/>
                </a:solidFill>
              </a:rPr>
              <a:t>Render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5751576"/>
            <a:ext cx="8046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0" sz="1400">
                <a:solidFill>
                  <a:srgbClr val="FFFFFF"/>
                </a:solidFill>
              </a:rPr>
              <a:t>0.0.0.0 binding, process.env.PORT, runtime localhost vs production URL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